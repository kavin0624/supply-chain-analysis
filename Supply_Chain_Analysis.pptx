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36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F3D36"/>
                </a:solidFill>
                <a:latin typeface="Arial"/>
              </a:rPr>
              <a:t>Total Revenue by Product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(INR)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9C-4258-AF0F-889A2B2A5936}"/>
              </c:ext>
            </c:extLst>
          </c:dPt>
          <c:dPt>
            <c:idx val="1"/>
            <c:invertIfNegative val="0"/>
            <c:bubble3D val="0"/>
            <c:spPr>
              <a:solidFill>
                <a:srgbClr val="1F3D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9C-4258-AF0F-889A2B2A5936}"/>
              </c:ext>
            </c:extLst>
          </c:dPt>
          <c:dPt>
            <c:idx val="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9C-4258-AF0F-889A2B2A593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Haircare</c:v>
                </c:pt>
                <c:pt idx="2">
                  <c:v>Skincare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161521.26999999999</c:v>
                </c:pt>
                <c:pt idx="1">
                  <c:v>174455.39</c:v>
                </c:pt>
                <c:pt idx="2">
                  <c:v>241628.16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9C-4258-AF0F-889A2B2A59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D36"/>
                </a:solidFill>
                <a:latin typeface="Arial"/>
              </a:rPr>
              <a:t>Stock-to-Sold Ratio (lower = tighter buffer)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Stock-to-Sold Ratio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24-4543-93BE-BE74E6032233}"/>
              </c:ext>
            </c:extLst>
          </c:dPt>
          <c:dPt>
            <c:idx val="1"/>
            <c:invertIfNegative val="0"/>
            <c:bubble3D val="0"/>
            <c:spPr>
              <a:solidFill>
                <a:srgbClr val="1F3D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24-4543-93BE-BE74E6032233}"/>
              </c:ext>
            </c:extLst>
          </c:dPt>
          <c:dPt>
            <c:idx val="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24-4543-93BE-BE74E60322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Haircare</c:v>
                </c:pt>
                <c:pt idx="2">
                  <c:v>Skincare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</c:v>
                </c:pt>
                <c:pt idx="1">
                  <c:v>0.12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24-4543-93BE-BE74E60322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D36"/>
                </a:solidFill>
                <a:latin typeface="Arial"/>
              </a:rPr>
              <a:t>Lead Time by Product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Mfg. Lead Time (days)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Haircare</c:v>
                </c:pt>
                <c:pt idx="2">
                  <c:v>Skincare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13.31</c:v>
                </c:pt>
                <c:pt idx="1">
                  <c:v>17.059999999999999</c:v>
                </c:pt>
                <c:pt idx="2">
                  <c:v>13.78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B5-4748-B34C-B3009834DD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Shipping Time (days)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Haircare</c:v>
                </c:pt>
                <c:pt idx="2">
                  <c:v>Skincare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6.58</c:v>
                </c:pt>
                <c:pt idx="1">
                  <c:v>5.62</c:v>
                </c:pt>
                <c:pt idx="2">
                  <c:v>5.32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B5-4748-B34C-B3009834DD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D36"/>
                </a:solidFill>
                <a:latin typeface="Arial"/>
              </a:rPr>
              <a:t>Avg Defect Rate by Inspection Result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Defect Rate (%)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913-44EB-AE76-259082851F27}"/>
              </c:ext>
            </c:extLst>
          </c:dPt>
          <c:dPt>
            <c:idx val="1"/>
            <c:invertIfNegative val="0"/>
            <c:bubble3D val="0"/>
            <c:spPr>
              <a:solidFill>
                <a:srgbClr val="F2C9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13-44EB-AE76-259082851F27}"/>
              </c:ext>
            </c:extLst>
          </c:dPt>
          <c:dPt>
            <c:idx val="2"/>
            <c:invertIfNegative val="0"/>
            <c:bubble3D val="0"/>
            <c:spPr>
              <a:solidFill>
                <a:srgbClr val="EB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13-44EB-AE76-259082851F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Pending</c:v>
                </c:pt>
                <c:pt idx="2">
                  <c:v>Fail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2.04</c:v>
                </c:pt>
                <c:pt idx="1">
                  <c:v>2.15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13-44EB-AE76-259082851F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D36"/>
                </a:solidFill>
                <a:latin typeface="Arial"/>
              </a:rPr>
              <a:t>Avg Defect Rate by Supplier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Defect Rate (%)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1</c:v>
                </c:pt>
                <c:pt idx="1">
                  <c:v>Supplier 2</c:v>
                </c:pt>
                <c:pt idx="2">
                  <c:v>Supplier 3</c:v>
                </c:pt>
                <c:pt idx="3">
                  <c:v>Supplier 4</c:v>
                </c:pt>
                <c:pt idx="4">
                  <c:v>Supplier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2.36</c:v>
                </c:pt>
                <c:pt idx="2">
                  <c:v>2.4700000000000002</c:v>
                </c:pt>
                <c:pt idx="3">
                  <c:v>2.34</c:v>
                </c:pt>
                <c:pt idx="4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99-4604-BDBB-76597CB126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D36"/>
                </a:solidFill>
                <a:latin typeface="Arial"/>
              </a:rPr>
              <a:t>Avg Cost by Transport Mode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Air</c:v>
                </c:pt>
                <c:pt idx="1">
                  <c:v>Rail</c:v>
                </c:pt>
                <c:pt idx="2">
                  <c:v>Road</c:v>
                </c:pt>
                <c:pt idx="3">
                  <c:v>Sea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561.71</c:v>
                </c:pt>
                <c:pt idx="1">
                  <c:v>541.75</c:v>
                </c:pt>
                <c:pt idx="2">
                  <c:v>553.39</c:v>
                </c:pt>
                <c:pt idx="3">
                  <c:v>417.82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B-45EF-977F-DFA31416B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D36"/>
                </a:solidFill>
                <a:latin typeface="Arial"/>
              </a:rPr>
              <a:t>Avg Shipping Time by Carrier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Shipping Time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Carrier A</c:v>
                </c:pt>
                <c:pt idx="1">
                  <c:v>Carrier B</c:v>
                </c:pt>
                <c:pt idx="2">
                  <c:v>Carrier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6.14</c:v>
                </c:pt>
                <c:pt idx="1">
                  <c:v>5.3</c:v>
                </c:pt>
                <c:pt idx="2">
                  <c:v>6.03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D4-44FB-A976-E8BE7229FE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D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D36"/>
                </a:solidFill>
                <a:latin typeface="Arial"/>
              </a:rPr>
              <a:t>Avg Cost by Route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06-4175-A550-687F31BB6F5B}"/>
              </c:ext>
            </c:extLst>
          </c:dPt>
          <c:dPt>
            <c:idx val="1"/>
            <c:invertIfNegative val="0"/>
            <c:bubble3D val="0"/>
            <c:spPr>
              <a:solidFill>
                <a:srgbClr val="EB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06-4175-A550-687F31BB6F5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E06-4175-A550-687F31BB6F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Route A</c:v>
                </c:pt>
                <c:pt idx="1">
                  <c:v>Route B</c:v>
                </c:pt>
                <c:pt idx="2">
                  <c:v>Route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485.48</c:v>
                </c:pt>
                <c:pt idx="1">
                  <c:v>595.66</c:v>
                </c:pt>
                <c:pt idx="2">
                  <c:v>500.47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06-4175-A550-687F31BB6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(INR)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3D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Bangalore</c:v>
                </c:pt>
                <c:pt idx="1">
                  <c:v>Chennai</c:v>
                </c:pt>
                <c:pt idx="2">
                  <c:v>Delhi</c:v>
                </c:pt>
                <c:pt idx="3">
                  <c:v>Kolkata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102601.72</c:v>
                </c:pt>
                <c:pt idx="1">
                  <c:v>119142.82</c:v>
                </c:pt>
                <c:pt idx="2">
                  <c:v>81027.7</c:v>
                </c:pt>
                <c:pt idx="3">
                  <c:v>137077.54999999999</c:v>
                </c:pt>
                <c:pt idx="4">
                  <c:v>137755.03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29-4561-BE7F-C103EBCC1F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76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&amp; Comparative Report  ·  Product code CDACL-003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36576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Kavin 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956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PTID-CDA-SEP-26-11151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MySQL database  ·  100 SKUs  ·  3 product categories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1938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database connection, data profiling &amp; quality checks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5054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Findings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87121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stock, lead time, cost, and quality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1985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Comparison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8039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 vs. Haircare vs. Skincare scorecard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5254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Suppliers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736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Carrier, route, and supplier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5669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focus next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was sourced and validated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MySQL connection to project_supply_chain_data (host 18.136.157.135)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332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30175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rows x 24 columns, main table; separate 3-row supplier reference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nulls, duplicates, negatives, and outliers (IQR method)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8116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6404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64040" y="30175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across revenue, stock, lead time, cost, carriers, suppliers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result: 0 nulls · 0 duplicate rows · 0 negative values · 0 statistical outliers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Volume by Product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leads on scale, not on price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040880" y="230428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SKUs — largest category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3063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57.36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040880" y="36301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 avg. price — highest, but lowest volume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0" y="4389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20,731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040880" y="49560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— skincare, more than any other type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Levels vs. Demand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Skincare runs the thinnest buffer relative to demand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55448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Type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 wins on margin and quality; skincare wins on scale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498080" cy="3840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Cosmetics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Skincare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(INR)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1,61,521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1,74,455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2,41,628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Margin / Unit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B5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B5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Defect Rate (%)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Mfg. Lead Time (days)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Stock-to-Sold Ratio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55448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86410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8641080" y="214884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 is the only product type where average price clears average production + shipping cost. It also leads on defect rate and lead time — despite generating the least total revenue.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Inspection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inspections track higher defect rates, as expected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766560" y="1554480"/>
          <a:ext cx="4754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 costs more without moving faster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00200"/>
          <a:ext cx="37033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51960" y="1600200"/>
          <a:ext cx="3657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8001000" y="1600200"/>
          <a:ext cx="3657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Location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and Kolkata lead; Delhi lags despite comparable SKU count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828800"/>
            <a:ext cx="2834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 has 15 SKUs — fewer than Kolkata (25) but comparable to Bangalore (18) — yet produces the lowest revenue of all five cities. Worth a follow-up look at Delhi-specific pricing or demand.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5361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haircare &amp; skincare pricing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5361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run negative approximate margins against avg. manufacturing + shipping cost, unlike cosmetics.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320040" cy="3200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4323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skincare safety stock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432304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stock-to-sold ratio (0.08) of the three categories — highest stockout risk.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320040" cy="3200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92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3284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Supplier 5 and Supplier 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32841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defect rate (2.67%) and highest manufacturing cost (62.71) respectively, without an offsetting benefit.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320040" cy="3200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88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224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Route 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22452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~20% more than Route A/C with no material speed advantage.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320040" cy="3200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Delhi underperformance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5120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total revenue despite a mid-sized SKU count.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built in Power BI, connected live to the project database.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CDACL-003 · Supply Chain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635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 V</cp:lastModifiedBy>
  <cp:revision>2</cp:revision>
  <dcterms:created xsi:type="dcterms:W3CDTF">2026-07-29T06:06:25Z</dcterms:created>
  <dcterms:modified xsi:type="dcterms:W3CDTF">2026-10-08T13:33:56Z</dcterms:modified>
</cp:coreProperties>
</file>